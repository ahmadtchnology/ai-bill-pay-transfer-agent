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11155680" cy="1234440"/>
          </a:xfrm>
          <a:prstGeom prst="round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DD4A7"/>
                </a:solidFill>
                <a:latin typeface="Segoe UI"/>
              </a:rPr>
              <a:t>SLIDE 1 — OUR APPROACH</a:t>
            </a:r>
          </a:p>
          <a:p>
            <a:pPr algn="l">
              <a:spcAft>
                <a:spcPts val="400"/>
              </a:spcAft>
            </a:pPr>
            <a:r>
              <a:rPr sz="3000" b="1">
                <a:solidFill>
                  <a:srgbClr val="E8EDF5"/>
                </a:solidFill>
                <a:latin typeface="Segoe UI"/>
              </a:rPr>
              <a:t>Bill Pay &amp; Transfer Agent — وكيل الدفع والتحويل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B97AB"/>
                </a:solidFill>
                <a:latin typeface="Segoe UI"/>
              </a:rPr>
              <a:t>One spoken or typed sentence in Iraqi Arabic becomes a completed, human-confirmed transaction — or an honest explanation why not.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5577840" cy="196596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D4A7"/>
                </a:solidFill>
                <a:latin typeface="Segoe UI"/>
              </a:rPr>
              <a:t>THE USER WE DESIGN FOR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8EDF5"/>
                </a:solidFill>
                <a:latin typeface="Segoe UI"/>
              </a:rPr>
              <a:t>▸  Less comfortable with smartphones: multi-tap wallet flows get abandoned or mis-tapped.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8EDF5"/>
                </a:solidFill>
                <a:latin typeface="Segoe UI"/>
              </a:rPr>
              <a:t>▸  Speaks dialect, not formal Arabic — "حول 50 الف لأحمد", "سدد فاتورة النت".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8EDF5"/>
                </a:solidFill>
                <a:latin typeface="Segoe UI"/>
              </a:rPr>
              <a:t>▸  Wants zero screens: one sentence, one confirmation, done.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3977639"/>
            <a:ext cx="5577840" cy="23774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D4A7"/>
                </a:solidFill>
                <a:latin typeface="Segoe UI"/>
              </a:rPr>
              <a:t>END TO END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DF5"/>
                </a:solidFill>
                <a:latin typeface="Segoe UI"/>
              </a:rPr>
              <a:t>🎙 Voice / text → Whisper STT → GLM-5.3 NLU (proposes only) →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8EDF5"/>
                </a:solidFill>
                <a:latin typeface="Segoe UI"/>
              </a:rPr>
              <a:t>Resolver: ask, never guess → Confirmation card →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E8EDF5"/>
                </a:solidFill>
                <a:latin typeface="Segoe UI"/>
              </a:rPr>
              <a:t>Rule-checked "نعم" → Idempotent executor → Mock wallet → Honest result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8B97AB"/>
                </a:solidFill>
                <a:latin typeface="Segoe UI"/>
              </a:rPr>
              <a:t>Missing info? It asks. Ambiguous? A numbered question, never a coin flip. Two requests in one sentence? One card, all-or-nothing.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828800"/>
            <a:ext cx="5394960" cy="30632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2DD4A7"/>
                </a:solidFill>
                <a:latin typeface="Segoe UI"/>
              </a:rPr>
              <a:t>MODELS, TOOLS &amp; DATA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NLU ("brain"):  z-ai/GLM-5.3 via NVIDIA NIM — extracts structured intent; no execution power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Voice (stretch):  faster-whisper large-v3-turbo, int8 CPU (~2 GB), Iraqi prompt + hotwords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Stack:  FastAPI · SQLite · httpx · single-file JS chat UI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Wallet data:  100% LLM-generated from a schema (15 contacts incl. 3 "Ahmeds", 7 billers) — no real records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Test data:  LLM-drafted, hand-edited Iraqi dialect; held-out set written after freeze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Built with:  AI coding assistant (disclosed) + team review — see DISCLOSURE.md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5029200"/>
            <a:ext cx="5394960" cy="1325880"/>
          </a:xfrm>
          <a:prstGeom prst="roundRect">
            <a:avLst/>
          </a:prstGeom>
          <a:solidFill>
            <a:srgbClr val="0F1420"/>
          </a:solidFill>
          <a:ln w="12700">
            <a:solidFill>
              <a:srgbClr val="2DD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2DD4A7"/>
                </a:solidFill>
                <a:latin typeface="Segoe UI"/>
              </a:rPr>
              <a:t>Golden rule: the LLM can only PROPOSE.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8EDF5"/>
                </a:solidFill>
                <a:latin typeface="Segoe UI"/>
              </a:rPr>
              <a:t>Money moves only from a designed state machine after a regex-checked human "نعم" — a hallucinated intent can never pay anyone.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4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411480"/>
            <a:ext cx="11155680" cy="1143000"/>
          </a:xfrm>
          <a:prstGeom prst="roundRect">
            <a:avLst/>
          </a:prstGeom>
          <a:solidFill>
            <a:srgbClr val="0F14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2DD4A7"/>
                </a:solidFill>
                <a:latin typeface="Segoe UI"/>
              </a:rPr>
              <a:t>SLIDE 2 — HOW WE PROVE IT WORKS</a:t>
            </a:r>
          </a:p>
          <a:p>
            <a:pPr algn="l">
              <a:spcAft>
                <a:spcPts val="300"/>
              </a:spcAft>
            </a:pPr>
            <a:r>
              <a:rPr sz="3000" b="1">
                <a:solidFill>
                  <a:srgbClr val="E8EDF5"/>
                </a:solidFill>
                <a:latin typeface="Segoe UI"/>
              </a:rPr>
              <a:t>Evidence, not a demo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8B97AB"/>
                </a:solidFill>
                <a:latin typeface="Segoe UI"/>
              </a:rPr>
              <a:t>Every run resets the wallet and checks bank-level invariants (balance delta, transaction count) — not just chat replies.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783080"/>
            <a:ext cx="2624328" cy="114300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2400" b="1">
                <a:solidFill>
                  <a:srgbClr val="2DD4A7"/>
                </a:solidFill>
              </a:rPr>
              <a:t>58/58</a:t>
            </a:r>
          </a:p>
          <a:p>
            <a:r>
              <a:rPr sz="1050">
                <a:solidFill>
                  <a:srgbClr val="8B97AB"/>
                </a:solidFill>
              </a:rPr>
              <a:t>tuning set — live GLM-5.3 NLU
55 Iraqi-dialect cases + 3 idempotency proofs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10128" y="1783080"/>
            <a:ext cx="2624328" cy="114300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2400" b="1">
                <a:solidFill>
                  <a:srgbClr val="2DD4A7"/>
                </a:solidFill>
              </a:rPr>
              <a:t>10/10</a:t>
            </a:r>
          </a:p>
          <a:p>
            <a:r>
              <a:rPr sz="1050">
                <a:solidFill>
                  <a:srgbClr val="8B97AB"/>
                </a:solidFill>
              </a:rPr>
              <a:t>held-out set — written after freeze,
never tuned on, run once · results committed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17336" y="1783080"/>
            <a:ext cx="2624328" cy="114300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2400" b="1">
                <a:solidFill>
                  <a:srgbClr val="F4B860"/>
                </a:solidFill>
              </a:rPr>
              <a:t>6/6</a:t>
            </a:r>
          </a:p>
          <a:p>
            <a:r>
              <a:rPr sz="1050">
                <a:solidFill>
                  <a:srgbClr val="8B97AB"/>
                </a:solidFill>
              </a:rPr>
              <a:t>voice smoke — real mic format (webm/opus):
spoken transfer → "نعم" → one debit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24544" y="1783080"/>
            <a:ext cx="2624328" cy="114300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/>
          <a:lstStyle/>
          <a:p>
            <a:pPr algn="ctr"/>
            <a:r>
              <a:rPr sz="2400" b="1">
                <a:solidFill>
                  <a:srgbClr val="2DD4A7"/>
                </a:solidFill>
              </a:rPr>
              <a:t>×2 same key</a:t>
            </a:r>
          </a:p>
          <a:p>
            <a:r>
              <a:rPr sz="1050">
                <a:solidFill>
                  <a:srgbClr val="8B97AB"/>
                </a:solidFill>
              </a:rPr>
              <a:t>same idempotency key submitted twice
→ same transaction, debited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108960"/>
            <a:ext cx="5577840" cy="155448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DD4A7"/>
                </a:solidFill>
                <a:latin typeface="Segoe UI"/>
              </a:rPr>
              <a:t>HOW WE TEST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▸  Replay mode: recorded NLU pins the deterministic core — runs without an API key.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▸  Live mode: the same 68 cases through real GLM-5.3 end-to-end.</a:t>
            </a:r>
          </a:p>
          <a:p>
            <a:pPr algn="l">
              <a:spcAft>
                <a:spcPts val="30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▸  Should-not-execute cases (cancel, vague reply, gibberish) verified to move ZERO money.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▸  Voice tested with ar-IQ TTS fixtures — judges reproduce without a microphone.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00600"/>
            <a:ext cx="5577840" cy="169164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2DD4A7"/>
                </a:solidFill>
                <a:latin typeface="Segoe UI"/>
              </a:rPr>
              <a:t>IF TIME RAN SHORT — WE BUILT IN CUT-ORDER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E05C6A"/>
                </a:solidFill>
                <a:latin typeface="Segoe UI"/>
              </a:rPr>
              <a:t>CUT FIRST:  voice (stretch) · web UI → CLI · two-in-one requests</a:t>
            </a:r>
          </a:p>
          <a:p>
            <a:pPr algn="l">
              <a:spcAft>
                <a:spcPts val="100"/>
              </a:spcAft>
            </a:pPr>
            <a:r>
              <a:rPr sz="1300" b="0">
                <a:solidFill>
                  <a:srgbClr val="E8EDF5"/>
                </a:solidFill>
                <a:latin typeface="Segoe UI"/>
              </a:rPr>
              <a:t>NEVER CUT:  confirmation step · idempotency · ask-don't-guess —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E8EDF5"/>
                </a:solidFill>
                <a:latin typeface="Segoe UI"/>
              </a:rPr>
              <a:t>those are the product.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108960"/>
            <a:ext cx="5394960" cy="3383280"/>
          </a:xfrm>
          <a:prstGeom prst="roundRect">
            <a:avLst/>
          </a:prstGeom>
          <a:solidFill>
            <a:srgbClr val="1A21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09728" tIns="91440"/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F4B860"/>
                </a:solidFill>
                <a:latin typeface="Segoe UI"/>
              </a:rPr>
              <a:t>WHAT COULD GO WRONG — AND DOES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▸  Ambiguous "أحمد" → numbered question, never a guess.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▸  Insufficient balance → honest early reject; combined requests drop whole, never half-executed.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▸  Timeout / retry after success → idempotency key returns the original result — no double pay.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▸  Malformed LLM JSON → robust parse + bounded retries; fail loudly, never guess.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E8EDF5"/>
                </a:solidFill>
                <a:latin typeface="Segoe UI"/>
              </a:rPr>
              <a:t>▸  Anything but an explicit "نعم" → "ما انحولّ شي" — nothing executes.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8B97AB"/>
                </a:solidFill>
                <a:latin typeface="Segoe UI"/>
              </a:rPr>
              <a:t>Full evidence: tests/results.md · results_heldout.md · FAILURE_MODES.md (8 modes) · live demo ready on judge input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